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ATM</c:v>
                </c:pt>
              </c:strCache>
            </c:strRef>
          </c:tx>
          <c:spPr>
            <a:solidFill>
              <a:srgbClr val="FF00FF"/>
            </a:solidFill>
            <a:ln>
              <a:solidFill>
                <a:srgbClr val="000000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38</c:v>
                </c:pt>
                <c:pt idx="2">
                  <c:v>64</c:v>
                </c:pt>
                <c:pt idx="3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Defense</c:v>
                </c:pt>
              </c:strCache>
            </c:strRef>
          </c:tx>
          <c:spPr>
            <a:solidFill>
              <a:srgbClr val="92D050"/>
            </a:solidFill>
            <a:ln>
              <a:solidFill>
                <a:srgbClr val="000000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25</c:v>
                </c:pt>
                <c:pt idx="2">
                  <c:v>22</c:v>
                </c:pt>
                <c:pt idx="3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F6000"/>
            </a:solidFill>
            <a:ln>
              <a:solidFill>
                <a:srgbClr val="000000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9</c:v>
                </c:pt>
                <c:pt idx="3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25400">
              <a:solidFill>
                <a:srgbClr val="00000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1">
                <a:solidFill>
                  <a:srgbClr val="1F3864"/>
                </a:solidFill>
                <a:latin typeface="Calibri"/>
              </a:rPr>
              <a:t>FRQ Product Overview &amp; Roadmap!!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7F7F7F"/>
                </a:solidFill>
                <a:latin typeface="Calibri"/>
              </a:rPr>
              <a:t>Presented By The ATM Sales Team - March 25th,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000FF"/>
                </a:solidFill>
                <a:latin typeface="Arial Black"/>
              </a:rPr>
              <a:t>FREQUENTIS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  <a:latin typeface="Calibri"/>
              </a:rPr>
              <a:t>Our Mission-Critical Communication Solutions For The Center Of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04040"/>
                </a:solidFill>
                <a:latin typeface="Calibri"/>
              </a:rPr>
              <a:t>At Frequentis we're the leading organization for ATM color-coded voice systems!</a:t>
            </a:r>
          </a:p>
          <a:p>
            <a:pPr algn="ctr"/>
            <a:r>
              <a:rPr sz="2000" b="1" i="0">
                <a:solidFill>
                  <a:srgbClr val="404040"/>
                </a:solidFill>
                <a:latin typeface="Calibri"/>
              </a:rPr>
              <a:t>We have 5 key benefits for your controllers.</a:t>
            </a:r>
          </a:p>
          <a:p>
            <a:pPr algn="ctr"/>
            <a:r>
              <a:rPr sz="2000" b="1" i="0">
                <a:solidFill>
                  <a:srgbClr val="404040"/>
                </a:solidFill>
                <a:latin typeface="Calibri"/>
              </a:rPr>
              <a:t>Over 2.115 planes are handled daily, worth €2,4 Mio.</a:t>
            </a:r>
          </a:p>
          <a:p>
            <a:pPr algn="ctr"/>
            <a:r>
              <a:rPr sz="2000" b="1" i="0">
                <a:solidFill>
                  <a:srgbClr val="404040"/>
                </a:solidFill>
                <a:latin typeface="Calibri"/>
              </a:rPr>
              <a:t>3 out of 4 airports have upgraded: That's awesome.</a:t>
            </a:r>
          </a:p>
          <a:p>
            <a:pPr algn="ctr"/>
            <a:r>
              <a:rPr sz="2000" b="1" i="0">
                <a:solidFill>
                  <a:srgbClr val="404040"/>
                </a:solidFill>
                <a:latin typeface="Calibri"/>
              </a:rPr>
              <a:t>Growth was 10 percent, costs fell by 4.3 million euros.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For a Safer 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7030A0"/>
                </a:solidFill>
                <a:latin typeface="Times New Roman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108960" cy="1828800"/>
          </a:xfrm>
          <a:prstGeom prst="roundRect">
            <a:avLst/>
          </a:prstGeom>
          <a:solidFill>
            <a:srgbClr val="FF00FF"/>
          </a:solidFill>
          <a:ln w="38100">
            <a:solidFill>
              <a:srgbClr val="000000"/>
            </a:solidFill>
          </a:ln>
          <a:effectLst>
            <a:outerShdw blurRad="76200" dist="38100" dir="2700000" algn="tl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Ingest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59" y="1828800"/>
            <a:ext cx="3108960" cy="1828800"/>
          </a:xfrm>
          <a:prstGeom prst="roundRect">
            <a:avLst/>
          </a:prstGeom>
          <a:solidFill>
            <a:srgbClr val="00B050"/>
          </a:solidFill>
          <a:ln w="38100">
            <a:solidFill>
              <a:srgbClr val="000000"/>
            </a:solidFill>
          </a:ln>
          <a:effectLst>
            <a:outerShdw blurRad="76200" dist="38100" dir="2700000" algn="tl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3108960" cy="1828800"/>
          </a:xfrm>
          <a:prstGeom prst="roundRect">
            <a:avLst/>
          </a:prstGeom>
          <a:solidFill>
            <a:srgbClr val="FFC000"/>
          </a:solidFill>
          <a:ln w="38100">
            <a:solidFill>
              <a:srgbClr val="000000"/>
            </a:solidFill>
          </a:ln>
          <a:effectLst>
            <a:outerShdw blurRad="76200" dist="38100" dir="2700000" algn="tl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Deliver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gradFill rotWithShape="1">
            <a:gsLst>
              <a:gs pos="0">
                <a:srgbClr val="999999"/>
              </a:gs>
              <a:gs pos="100000">
                <a:srgbClr val="F0A51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0607040" y="365760"/>
            <a:ext cx="914400" cy="914400"/>
          </a:xfrm>
          <a:prstGeom prst="star5">
            <a:avLst/>
          </a:prstGeom>
          <a:solidFill>
            <a:srgbClr val="FFFF00"/>
          </a:solidFill>
          <a:effectLst>
            <a:outerShdw blurRad="76200" dist="38100" dir="2700000" algn="tl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1">
                <a:solidFill>
                  <a:srgbClr val="C00000"/>
                </a:solidFill>
                <a:latin typeface="Calibri"/>
              </a:rPr>
              <a:t>Quarterly Results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058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gradFill rotWithShape="1">
            <a:gsLst>
              <a:gs pos="0">
                <a:srgbClr val="004182"/>
              </a:gs>
              <a:gs pos="100000">
                <a:srgbClr val="00203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Why Choose 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365760"/>
            <a:ext cx="786384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1: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2: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3: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4: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5: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6: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7: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8: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9: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10: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11: lorem ipsum dolor sit amet, consectetur adipiscing elit, sed do eiusmod tempor incididunt ut labore et dolore magna aliqua.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Benefit 12: lorem ipsum dolor sit amet, consectetur adipiscing elit, sed do eiusmod tempor incididunt ut labore et dolore magna aliqua.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1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